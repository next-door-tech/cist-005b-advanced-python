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sldIdLst>
    <p:sldId id="256" r:id="rId2"/>
  </p:sldIdLst>
  <p:sldSz cx="10972800" cy="7315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04" userDrawn="1">
          <p15:clr>
            <a:srgbClr val="A4A3A4"/>
          </p15:clr>
        </p15:guide>
        <p15:guide id="2" pos="3456" userDrawn="1">
          <p15:clr>
            <a:srgbClr val="A4A3A4"/>
          </p15:clr>
        </p15:guide>
        <p15:guide id="3" pos="2304" userDrawn="1">
          <p15:clr>
            <a:srgbClr val="5ACBF0"/>
          </p15:clr>
        </p15:guide>
        <p15:guide id="4" pos="4608" userDrawn="1">
          <p15:clr>
            <a:srgbClr val="5ACBF0"/>
          </p15:clr>
        </p15:guide>
        <p15:guide id="5" orient="horz" pos="480" userDrawn="1">
          <p15:clr>
            <a:srgbClr val="A4A3A4"/>
          </p15:clr>
        </p15:guide>
        <p15:guide id="7" pos="1152" userDrawn="1">
          <p15:clr>
            <a:srgbClr val="A4A3A4"/>
          </p15:clr>
        </p15:guide>
        <p15:guide id="8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47"/>
    <p:restoredTop sz="96928"/>
  </p:normalViewPr>
  <p:slideViewPr>
    <p:cSldViewPr>
      <p:cViewPr>
        <p:scale>
          <a:sx n="137" d="100"/>
          <a:sy n="137" d="100"/>
        </p:scale>
        <p:origin x="3312" y="376"/>
      </p:cViewPr>
      <p:guideLst>
        <p:guide orient="horz" pos="2304"/>
        <p:guide pos="3456"/>
        <p:guide pos="2304"/>
        <p:guide pos="4608"/>
        <p:guide orient="horz" pos="480"/>
        <p:guide pos="1152"/>
        <p:guide pos="57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0B86E9-F3CD-3746-BE6B-771D54FF87D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4425" y="1143000"/>
            <a:ext cx="4629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BE7915-7D5C-D24F-A20B-C288F86F1E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8177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77736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1pPr>
    <a:lvl2pPr marL="438868" algn="l" defTabSz="877736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2pPr>
    <a:lvl3pPr marL="877736" algn="l" defTabSz="877736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3pPr>
    <a:lvl4pPr marL="1316604" algn="l" defTabSz="877736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4pPr>
    <a:lvl5pPr marL="1755472" algn="l" defTabSz="877736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5pPr>
    <a:lvl6pPr marL="2194341" algn="l" defTabSz="877736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6pPr>
    <a:lvl7pPr marL="2633209" algn="l" defTabSz="877736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7pPr>
    <a:lvl8pPr marL="3072077" algn="l" defTabSz="877736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8pPr>
    <a:lvl9pPr marL="3510945" algn="l" defTabSz="877736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strike="sngStrike" dirty="0"/>
              <a:t>Project Title</a:t>
            </a:r>
            <a:r>
              <a:rPr lang="en-US" strike="sngStrike" dirty="0"/>
              <a:t> – concise and descriptive.</a:t>
            </a:r>
          </a:p>
          <a:p>
            <a:r>
              <a:rPr lang="en-US" b="1" strike="sngStrike" dirty="0"/>
              <a:t>Objective / Problem Statement</a:t>
            </a:r>
            <a:r>
              <a:rPr lang="en-US" strike="sngStrike" dirty="0"/>
              <a:t> – one sentence summarizing the goal or real-world problem addressed.</a:t>
            </a:r>
          </a:p>
          <a:p>
            <a:r>
              <a:rPr lang="en-US" b="1" strike="sngStrike" dirty="0"/>
              <a:t>High-Level Description</a:t>
            </a:r>
            <a:r>
              <a:rPr lang="en-US" strike="sngStrike" dirty="0"/>
              <a:t> – brief overview of what the application will do and why it matters.</a:t>
            </a:r>
          </a:p>
          <a:p>
            <a:r>
              <a:rPr lang="en-US" b="1" strike="sngStrike" dirty="0"/>
              <a:t>Key Data-Structure Concepts</a:t>
            </a:r>
            <a:r>
              <a:rPr lang="en-US" strike="sngStrike" dirty="0"/>
              <a:t> – bullets naming the course topics (graphs, stacks, heaps, etc.) you’ll leverage. </a:t>
            </a:r>
            <a:r>
              <a:rPr lang="en-US" i="1" strike="sngStrike" dirty="0"/>
              <a:t>You may omit details of the future greedy / dynamic algorithm for now.</a:t>
            </a:r>
            <a:endParaRPr lang="en-US" strike="sngStrike" dirty="0"/>
          </a:p>
          <a:p>
            <a:r>
              <a:rPr lang="en-US" b="1" strike="sngStrike" dirty="0"/>
              <a:t>Architecture Diagram</a:t>
            </a:r>
            <a:r>
              <a:rPr lang="en-US" strike="sngStrike" dirty="0"/>
              <a:t> – UML class diagram </a:t>
            </a:r>
            <a:r>
              <a:rPr lang="en-US" i="1" strike="sngStrike" dirty="0"/>
              <a:t>or</a:t>
            </a:r>
            <a:r>
              <a:rPr lang="en-US" strike="sngStrike" dirty="0"/>
              <a:t> activity diagram showing main classes/functions, data flow, and user interaction.</a:t>
            </a:r>
          </a:p>
          <a:p>
            <a:r>
              <a:rPr lang="en-US" b="1" dirty="0"/>
              <a:t>Core Functionality</a:t>
            </a:r>
            <a:r>
              <a:rPr lang="en-US" dirty="0"/>
              <a:t> – bullets outlining major features the program will provide.</a:t>
            </a:r>
          </a:p>
          <a:p>
            <a:r>
              <a:rPr lang="en-US" b="1" dirty="0"/>
              <a:t>Testing &amp; Evaluation Plan</a:t>
            </a:r>
            <a:r>
              <a:rPr lang="en-US" dirty="0"/>
              <a:t> – how you will verify correctness and measure success.</a:t>
            </a:r>
          </a:p>
          <a:p>
            <a:r>
              <a:rPr lang="en-US" b="1" dirty="0"/>
              <a:t>Project Timeline</a:t>
            </a:r>
            <a:r>
              <a:rPr lang="en-US" dirty="0"/>
              <a:t> – milestone dates up to finals week (design, coding, testing, polish).</a:t>
            </a:r>
          </a:p>
          <a:p>
            <a:r>
              <a:rPr lang="en-US" b="1" dirty="0"/>
              <a:t>Anticipated Impact &amp; Blind Spots</a:t>
            </a:r>
            <a:r>
              <a:rPr lang="en-US" dirty="0"/>
              <a:t> – one-to-two sentences on benefits and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BE7915-7D5C-D24F-A20B-C288F86F1E9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5292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1197187"/>
            <a:ext cx="9326880" cy="2546773"/>
          </a:xfrm>
        </p:spPr>
        <p:txBody>
          <a:bodyPr anchor="b"/>
          <a:lstStyle>
            <a:lvl1pPr algn="ctr"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42174"/>
            <a:ext cx="8229600" cy="1766146"/>
          </a:xfrm>
        </p:spPr>
        <p:txBody>
          <a:bodyPr/>
          <a:lstStyle>
            <a:lvl1pPr marL="0" indent="0" algn="ctr">
              <a:buNone/>
              <a:defRPr sz="2560"/>
            </a:lvl1pPr>
            <a:lvl2pPr marL="487695" indent="0" algn="ctr">
              <a:buNone/>
              <a:defRPr sz="2133"/>
            </a:lvl2pPr>
            <a:lvl3pPr marL="975390" indent="0" algn="ctr">
              <a:buNone/>
              <a:defRPr sz="1920"/>
            </a:lvl3pPr>
            <a:lvl4pPr marL="1463086" indent="0" algn="ctr">
              <a:buNone/>
              <a:defRPr sz="1707"/>
            </a:lvl4pPr>
            <a:lvl5pPr marL="1950781" indent="0" algn="ctr">
              <a:buNone/>
              <a:defRPr sz="1707"/>
            </a:lvl5pPr>
            <a:lvl6pPr marL="2438476" indent="0" algn="ctr">
              <a:buNone/>
              <a:defRPr sz="1707"/>
            </a:lvl6pPr>
            <a:lvl7pPr marL="2926171" indent="0" algn="ctr">
              <a:buNone/>
              <a:defRPr sz="1707"/>
            </a:lvl7pPr>
            <a:lvl8pPr marL="3413867" indent="0" algn="ctr">
              <a:buNone/>
              <a:defRPr sz="1707"/>
            </a:lvl8pPr>
            <a:lvl9pPr marL="3901562" indent="0" algn="ctr">
              <a:buNone/>
              <a:defRPr sz="170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13B4C-0175-0340-9166-DD1615F5123E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4CB04-404E-0842-ABC7-1D3963BD11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674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13B4C-0175-0340-9166-DD1615F5123E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4CB04-404E-0842-ABC7-1D3963BD11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986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8666" y="1823722"/>
            <a:ext cx="9464040" cy="3042919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8666" y="4895429"/>
            <a:ext cx="9464040" cy="1600199"/>
          </a:xfrm>
        </p:spPr>
        <p:txBody>
          <a:bodyPr/>
          <a:lstStyle>
            <a:lvl1pPr marL="0" indent="0">
              <a:buNone/>
              <a:defRPr sz="2560">
                <a:solidFill>
                  <a:schemeClr val="tx1">
                    <a:tint val="82000"/>
                  </a:schemeClr>
                </a:solidFill>
              </a:defRPr>
            </a:lvl1pPr>
            <a:lvl2pPr marL="487695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2pPr>
            <a:lvl3pPr marL="97539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3pPr>
            <a:lvl4pPr marL="1463086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4pPr>
            <a:lvl5pPr marL="1950781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5pPr>
            <a:lvl6pPr marL="2438476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6pPr>
            <a:lvl7pPr marL="2926171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7pPr>
            <a:lvl8pPr marL="3413867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8pPr>
            <a:lvl9pPr marL="3901562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13B4C-0175-0340-9166-DD1615F5123E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4CB04-404E-0842-ABC7-1D3963BD11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053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4380" y="1947333"/>
            <a:ext cx="4663440" cy="46414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54980" y="1947333"/>
            <a:ext cx="4663440" cy="46414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13B4C-0175-0340-9166-DD1615F5123E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4CB04-404E-0842-ABC7-1D3963BD11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744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09" y="389468"/>
            <a:ext cx="9464040" cy="14139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5810" y="1793241"/>
            <a:ext cx="4642008" cy="878839"/>
          </a:xfrm>
        </p:spPr>
        <p:txBody>
          <a:bodyPr anchor="b"/>
          <a:lstStyle>
            <a:lvl1pPr marL="0" indent="0">
              <a:buNone/>
              <a:defRPr sz="2560" b="1"/>
            </a:lvl1pPr>
            <a:lvl2pPr marL="487695" indent="0">
              <a:buNone/>
              <a:defRPr sz="2133" b="1"/>
            </a:lvl2pPr>
            <a:lvl3pPr marL="975390" indent="0">
              <a:buNone/>
              <a:defRPr sz="1920" b="1"/>
            </a:lvl3pPr>
            <a:lvl4pPr marL="1463086" indent="0">
              <a:buNone/>
              <a:defRPr sz="1707" b="1"/>
            </a:lvl4pPr>
            <a:lvl5pPr marL="1950781" indent="0">
              <a:buNone/>
              <a:defRPr sz="1707" b="1"/>
            </a:lvl5pPr>
            <a:lvl6pPr marL="2438476" indent="0">
              <a:buNone/>
              <a:defRPr sz="1707" b="1"/>
            </a:lvl6pPr>
            <a:lvl7pPr marL="2926171" indent="0">
              <a:buNone/>
              <a:defRPr sz="1707" b="1"/>
            </a:lvl7pPr>
            <a:lvl8pPr marL="3413867" indent="0">
              <a:buNone/>
              <a:defRPr sz="1707" b="1"/>
            </a:lvl8pPr>
            <a:lvl9pPr marL="3901562" indent="0">
              <a:buNone/>
              <a:defRPr sz="17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5810" y="2672080"/>
            <a:ext cx="4642008" cy="39302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554981" y="1793241"/>
            <a:ext cx="4664869" cy="878839"/>
          </a:xfrm>
        </p:spPr>
        <p:txBody>
          <a:bodyPr anchor="b"/>
          <a:lstStyle>
            <a:lvl1pPr marL="0" indent="0">
              <a:buNone/>
              <a:defRPr sz="2560" b="1"/>
            </a:lvl1pPr>
            <a:lvl2pPr marL="487695" indent="0">
              <a:buNone/>
              <a:defRPr sz="2133" b="1"/>
            </a:lvl2pPr>
            <a:lvl3pPr marL="975390" indent="0">
              <a:buNone/>
              <a:defRPr sz="1920" b="1"/>
            </a:lvl3pPr>
            <a:lvl4pPr marL="1463086" indent="0">
              <a:buNone/>
              <a:defRPr sz="1707" b="1"/>
            </a:lvl4pPr>
            <a:lvl5pPr marL="1950781" indent="0">
              <a:buNone/>
              <a:defRPr sz="1707" b="1"/>
            </a:lvl5pPr>
            <a:lvl6pPr marL="2438476" indent="0">
              <a:buNone/>
              <a:defRPr sz="1707" b="1"/>
            </a:lvl6pPr>
            <a:lvl7pPr marL="2926171" indent="0">
              <a:buNone/>
              <a:defRPr sz="1707" b="1"/>
            </a:lvl7pPr>
            <a:lvl8pPr marL="3413867" indent="0">
              <a:buNone/>
              <a:defRPr sz="1707" b="1"/>
            </a:lvl8pPr>
            <a:lvl9pPr marL="3901562" indent="0">
              <a:buNone/>
              <a:defRPr sz="17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54981" y="2672080"/>
            <a:ext cx="4664869" cy="39302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13B4C-0175-0340-9166-DD1615F5123E}" type="datetimeFigureOut">
              <a:rPr lang="en-US" smtClean="0"/>
              <a:t>4/30/26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4CB04-404E-0842-ABC7-1D3963BD11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317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13B4C-0175-0340-9166-DD1615F5123E}" type="datetimeFigureOut">
              <a:rPr lang="en-US" smtClean="0"/>
              <a:t>4/30/26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4CB04-404E-0842-ABC7-1D3963BD11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491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13B4C-0175-0340-9166-DD1615F5123E}" type="datetimeFigureOut">
              <a:rPr lang="en-US" smtClean="0"/>
              <a:t>4/30/26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4CB04-404E-0842-ABC7-1D3963BD11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047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09" y="487680"/>
            <a:ext cx="3539014" cy="1706880"/>
          </a:xfrm>
        </p:spPr>
        <p:txBody>
          <a:bodyPr anchor="b"/>
          <a:lstStyle>
            <a:lvl1pPr>
              <a:defRPr sz="341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64869" y="1053255"/>
            <a:ext cx="5554980" cy="5198533"/>
          </a:xfrm>
        </p:spPr>
        <p:txBody>
          <a:bodyPr/>
          <a:lstStyle>
            <a:lvl1pPr>
              <a:defRPr sz="3413"/>
            </a:lvl1pPr>
            <a:lvl2pPr>
              <a:defRPr sz="2987"/>
            </a:lvl2pPr>
            <a:lvl3pPr>
              <a:defRPr sz="256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5809" y="2194560"/>
            <a:ext cx="3539014" cy="4065694"/>
          </a:xfrm>
        </p:spPr>
        <p:txBody>
          <a:bodyPr/>
          <a:lstStyle>
            <a:lvl1pPr marL="0" indent="0">
              <a:buNone/>
              <a:defRPr sz="1707"/>
            </a:lvl1pPr>
            <a:lvl2pPr marL="487695" indent="0">
              <a:buNone/>
              <a:defRPr sz="1493"/>
            </a:lvl2pPr>
            <a:lvl3pPr marL="975390" indent="0">
              <a:buNone/>
              <a:defRPr sz="1280"/>
            </a:lvl3pPr>
            <a:lvl4pPr marL="1463086" indent="0">
              <a:buNone/>
              <a:defRPr sz="1067"/>
            </a:lvl4pPr>
            <a:lvl5pPr marL="1950781" indent="0">
              <a:buNone/>
              <a:defRPr sz="1067"/>
            </a:lvl5pPr>
            <a:lvl6pPr marL="2438476" indent="0">
              <a:buNone/>
              <a:defRPr sz="1067"/>
            </a:lvl6pPr>
            <a:lvl7pPr marL="2926171" indent="0">
              <a:buNone/>
              <a:defRPr sz="1067"/>
            </a:lvl7pPr>
            <a:lvl8pPr marL="3413867" indent="0">
              <a:buNone/>
              <a:defRPr sz="1067"/>
            </a:lvl8pPr>
            <a:lvl9pPr marL="3901562" indent="0">
              <a:buNone/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13B4C-0175-0340-9166-DD1615F5123E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4CB04-404E-0842-ABC7-1D3963BD11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101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09" y="487680"/>
            <a:ext cx="3539014" cy="1706880"/>
          </a:xfrm>
        </p:spPr>
        <p:txBody>
          <a:bodyPr anchor="b"/>
          <a:lstStyle>
            <a:lvl1pPr>
              <a:defRPr sz="341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664869" y="1053255"/>
            <a:ext cx="5554980" cy="5198533"/>
          </a:xfrm>
        </p:spPr>
        <p:txBody>
          <a:bodyPr anchor="t"/>
          <a:lstStyle>
            <a:lvl1pPr marL="0" indent="0">
              <a:buNone/>
              <a:defRPr sz="3413"/>
            </a:lvl1pPr>
            <a:lvl2pPr marL="487695" indent="0">
              <a:buNone/>
              <a:defRPr sz="2987"/>
            </a:lvl2pPr>
            <a:lvl3pPr marL="975390" indent="0">
              <a:buNone/>
              <a:defRPr sz="2560"/>
            </a:lvl3pPr>
            <a:lvl4pPr marL="1463086" indent="0">
              <a:buNone/>
              <a:defRPr sz="2133"/>
            </a:lvl4pPr>
            <a:lvl5pPr marL="1950781" indent="0">
              <a:buNone/>
              <a:defRPr sz="2133"/>
            </a:lvl5pPr>
            <a:lvl6pPr marL="2438476" indent="0">
              <a:buNone/>
              <a:defRPr sz="2133"/>
            </a:lvl6pPr>
            <a:lvl7pPr marL="2926171" indent="0">
              <a:buNone/>
              <a:defRPr sz="2133"/>
            </a:lvl7pPr>
            <a:lvl8pPr marL="3413867" indent="0">
              <a:buNone/>
              <a:defRPr sz="2133"/>
            </a:lvl8pPr>
            <a:lvl9pPr marL="3901562" indent="0">
              <a:buNone/>
              <a:defRPr sz="21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5809" y="2194560"/>
            <a:ext cx="3539014" cy="4065694"/>
          </a:xfrm>
        </p:spPr>
        <p:txBody>
          <a:bodyPr/>
          <a:lstStyle>
            <a:lvl1pPr marL="0" indent="0">
              <a:buNone/>
              <a:defRPr sz="1707"/>
            </a:lvl1pPr>
            <a:lvl2pPr marL="487695" indent="0">
              <a:buNone/>
              <a:defRPr sz="1493"/>
            </a:lvl2pPr>
            <a:lvl3pPr marL="975390" indent="0">
              <a:buNone/>
              <a:defRPr sz="1280"/>
            </a:lvl3pPr>
            <a:lvl4pPr marL="1463086" indent="0">
              <a:buNone/>
              <a:defRPr sz="1067"/>
            </a:lvl4pPr>
            <a:lvl5pPr marL="1950781" indent="0">
              <a:buNone/>
              <a:defRPr sz="1067"/>
            </a:lvl5pPr>
            <a:lvl6pPr marL="2438476" indent="0">
              <a:buNone/>
              <a:defRPr sz="1067"/>
            </a:lvl6pPr>
            <a:lvl7pPr marL="2926171" indent="0">
              <a:buNone/>
              <a:defRPr sz="1067"/>
            </a:lvl7pPr>
            <a:lvl8pPr marL="3413867" indent="0">
              <a:buNone/>
              <a:defRPr sz="1067"/>
            </a:lvl8pPr>
            <a:lvl9pPr marL="3901562" indent="0">
              <a:buNone/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13B4C-0175-0340-9166-DD1615F5123E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4CB04-404E-0842-ABC7-1D3963BD11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291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13B4C-0175-0340-9166-DD1615F5123E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4CB04-404E-0842-ABC7-1D3963BD11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74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52411" y="389467"/>
            <a:ext cx="2366010" cy="619929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4381" y="389467"/>
            <a:ext cx="6960870" cy="619929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13B4C-0175-0340-9166-DD1615F5123E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4CB04-404E-0842-ABC7-1D3963BD11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121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380" y="389468"/>
            <a:ext cx="9464040" cy="14139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" y="1947333"/>
            <a:ext cx="9464040" cy="46414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380" y="6780108"/>
            <a:ext cx="246888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713B4C-0175-0340-9166-DD1615F5123E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4740" y="6780108"/>
            <a:ext cx="370332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49540" y="6780108"/>
            <a:ext cx="246888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44CB04-404E-0842-ABC7-1D3963BD11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57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75390" rtl="0" eaLnBrk="1" latinLnBrk="0" hangingPunct="1">
        <a:lnSpc>
          <a:spcPct val="90000"/>
        </a:lnSpc>
        <a:spcBef>
          <a:spcPct val="0"/>
        </a:spcBef>
        <a:buNone/>
        <a:defRPr sz="469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3848" indent="-243848" algn="l" defTabSz="9753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2987" kern="1200">
          <a:solidFill>
            <a:schemeClr val="tx1"/>
          </a:solidFill>
          <a:latin typeface="+mn-lt"/>
          <a:ea typeface="+mn-ea"/>
          <a:cs typeface="+mn-cs"/>
        </a:defRPr>
      </a:lvl1pPr>
      <a:lvl2pPr marL="731543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38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3pPr>
      <a:lvl4pPr marL="1706933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2194629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2682324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3170019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3657714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4145410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1pPr>
      <a:lvl2pPr marL="487695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2pPr>
      <a:lvl3pPr marL="975390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3pPr>
      <a:lvl4pPr marL="1463086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1950781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2438476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2926171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3413867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3901562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69B44BB-E589-FB6B-0AEE-E06CD2944B5D}"/>
              </a:ext>
            </a:extLst>
          </p:cNvPr>
          <p:cNvSpPr txBox="1"/>
          <p:nvPr/>
        </p:nvSpPr>
        <p:spPr>
          <a:xfrm>
            <a:off x="2362201" y="76200"/>
            <a:ext cx="6248398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dirty="0"/>
              <a:t>A* Pathfinding Algorithm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B1CA49-9A22-4132-527E-08B4DF0E9725}"/>
              </a:ext>
            </a:extLst>
          </p:cNvPr>
          <p:cNvSpPr txBox="1"/>
          <p:nvPr/>
        </p:nvSpPr>
        <p:spPr>
          <a:xfrm>
            <a:off x="228600" y="936172"/>
            <a:ext cx="33528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This project aims to create a flexible implementation of the A* pathfinding algorithm based upon an improved version of the Graph data structure from Lab 13.</a:t>
            </a:r>
          </a:p>
          <a:p>
            <a:endParaRPr lang="en-US" sz="1200" dirty="0"/>
          </a:p>
          <a:p>
            <a:r>
              <a:rPr lang="en-US" sz="1200" dirty="0"/>
              <a:t>A* is a common pathfinding algorithm which is used to determine the most optimal path between two graph vertices while minimizing the time spent visiting unnecessary nodes. This is achieved by using a heuristic function to estimate the </a:t>
            </a:r>
            <a:r>
              <a:rPr lang="en-US" sz="1200" i="1" dirty="0"/>
              <a:t>remaining</a:t>
            </a:r>
            <a:r>
              <a:rPr lang="en-US" sz="1200" dirty="0"/>
              <a:t> cost to reach the goal after traversing to a previously unexplored node. The algorithm greedily selects the next node with the lowest current + estimated cost.</a:t>
            </a:r>
          </a:p>
          <a:p>
            <a:endParaRPr lang="en-US" sz="1200" dirty="0"/>
          </a:p>
          <a:p>
            <a:r>
              <a:rPr lang="en-US" sz="1200" dirty="0"/>
              <a:t>The ultimate goal of the project is to create an API for A* in such a way that both the underlying Graph datatype and the heuristic function can be easily modified or entirely replaced to fit the needs of a specific implementation.</a:t>
            </a:r>
          </a:p>
          <a:p>
            <a:endParaRPr lang="en-US" sz="1200" dirty="0"/>
          </a:p>
          <a:p>
            <a:r>
              <a:rPr lang="en-US" sz="1200" dirty="0"/>
              <a:t>This implementation of A* will utilize a priority queue to track the estimated total cost of known but unvisited nodes to visit next. A hash table will also be used to track the known cost of previously-visited nodes, and the current shortest path to those nodes.</a:t>
            </a:r>
            <a:endParaRPr lang="en-US" sz="1200" b="1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07D4DA4-0392-5B27-91C1-C57C02B71E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2" y="914400"/>
            <a:ext cx="3428998" cy="240314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4E8641E-7C19-B335-996B-4CD50F254625}"/>
              </a:ext>
            </a:extLst>
          </p:cNvPr>
          <p:cNvSpPr txBox="1"/>
          <p:nvPr/>
        </p:nvSpPr>
        <p:spPr>
          <a:xfrm>
            <a:off x="3810002" y="914400"/>
            <a:ext cx="3352798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The user interface requirement will utilize a modified version of the UI from Lab 13 as a proof-of-concept implementation. The UI will: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Allow users to view a printed image of the graph (utilizing a library such as matplotlib)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Allow adding new nodes/edges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Allow users to request the shortest path between two nodes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Visualize the stepwise execution of A* and its result on the graph</a:t>
            </a:r>
          </a:p>
          <a:p>
            <a:endParaRPr lang="en-US" sz="1200" dirty="0"/>
          </a:p>
          <a:p>
            <a:r>
              <a:rPr lang="en-US" sz="1200" dirty="0"/>
              <a:t>Test Plan: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Create a test graph with ~20 nodes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Run Dijkstra’s algorithm on a node to determine the optimal path length to each other node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Run A* from that node to all other nodes, ensure path length matches Dijkstra.</a:t>
            </a:r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Timeline:</a:t>
            </a:r>
          </a:p>
          <a:p>
            <a:r>
              <a:rPr lang="en-US" sz="1200" dirty="0"/>
              <a:t>5/5: 	Graph data structure complete (part of Lab 	13)</a:t>
            </a:r>
          </a:p>
          <a:p>
            <a:r>
              <a:rPr lang="en-US" sz="1200" dirty="0"/>
              <a:t>5/7: 	A* implemented</a:t>
            </a:r>
          </a:p>
          <a:p>
            <a:r>
              <a:rPr lang="en-US" sz="1200" dirty="0"/>
              <a:t>5/10: 	Modifications to Lab 13 UI underway</a:t>
            </a:r>
          </a:p>
          <a:p>
            <a:r>
              <a:rPr lang="en-US" sz="1200" dirty="0"/>
              <a:t>5/12: 	Modifications to UI complete, testing 	underway</a:t>
            </a:r>
          </a:p>
          <a:p>
            <a:r>
              <a:rPr lang="en-US" sz="1200" dirty="0"/>
              <a:t>5/14: 	Presentation</a:t>
            </a:r>
          </a:p>
          <a:p>
            <a:r>
              <a:rPr lang="en-US" sz="1200" dirty="0"/>
              <a:t>5/19: 	Code Turned In</a:t>
            </a:r>
          </a:p>
          <a:p>
            <a:endParaRPr lang="en-US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331504F-D665-8A53-DD38-D10C62543C04}"/>
              </a:ext>
            </a:extLst>
          </p:cNvPr>
          <p:cNvSpPr txBox="1"/>
          <p:nvPr/>
        </p:nvSpPr>
        <p:spPr>
          <a:xfrm>
            <a:off x="7391402" y="3657600"/>
            <a:ext cx="3352798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Impact &amp; Limitations:</a:t>
            </a:r>
          </a:p>
          <a:p>
            <a:endParaRPr lang="en-US" sz="1200" dirty="0"/>
          </a:p>
          <a:p>
            <a:r>
              <a:rPr lang="en-US" sz="1200" dirty="0"/>
              <a:t>With no additional heuristic beyond the weight of edges between nodes, A* is effectively a version of Dijkstra’s algorithm which terminates once the target node is found. However, the primary power of A* is the ability to customize the heuristic function based on the properties of the graph.</a:t>
            </a:r>
          </a:p>
          <a:p>
            <a:endParaRPr lang="en-US" sz="1200" dirty="0"/>
          </a:p>
          <a:p>
            <a:r>
              <a:rPr lang="en-US" sz="1200" dirty="0"/>
              <a:t>For instance, if the graph represents a road network where each node is an intersection, the geographic linear distance between each node and the target can be incorporated into the heuristic function, “guiding” A* to prefer steps which lower that distance over those that increase it.</a:t>
            </a:r>
          </a:p>
        </p:txBody>
      </p:sp>
    </p:spTree>
    <p:extLst>
      <p:ext uri="{BB962C8B-B14F-4D97-AF65-F5344CB8AC3E}">
        <p14:creationId xmlns:p14="http://schemas.microsoft.com/office/powerpoint/2010/main" val="1125759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440</TotalTime>
  <Words>626</Words>
  <Application>Microsoft Macintosh PowerPoint</Application>
  <PresentationFormat>Custom</PresentationFormat>
  <Paragraphs>42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Connor Gibson</dc:creator>
  <cp:lastModifiedBy>Connor Gibson</cp:lastModifiedBy>
  <cp:revision>4</cp:revision>
  <dcterms:created xsi:type="dcterms:W3CDTF">2026-04-30T19:19:18Z</dcterms:created>
  <dcterms:modified xsi:type="dcterms:W3CDTF">2026-05-01T02:40:13Z</dcterms:modified>
</cp:coreProperties>
</file>